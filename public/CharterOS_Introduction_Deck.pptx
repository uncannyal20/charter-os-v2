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5" r:id="rId2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5943600" cy="73152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731520"/>
            <a:ext cx="777240" cy="77724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8046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Charter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98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ABBDD"/>
                </a:solidFill>
                <a:latin typeface="Calibri"/>
              </a:rPr>
              <a:t>PRODUCT CHARTER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7CFF"/>
                </a:solidFill>
                <a:latin typeface="Calibri"/>
              </a:rPr>
              <a:t>Introducing CharterOS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 AI-Powered Platform
for Product Office
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Calibri"/>
              </a:rPr>
              <a:t>From raw ideas to approved Product Charters —
guided by Agentic AI with Human in the Loop governance.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5577"/>
                </a:solidFill>
                <a:latin typeface="Calibri"/>
              </a:rPr>
              <a:t>Confidential — Internal Use Only</a:t>
            </a:r>
          </a:p>
        </p:txBody>
      </p:sp>
      <p:pic>
        <p:nvPicPr>
          <p:cNvPr id="12" name="Picture 11" descr="01_CharterOS Login 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548640"/>
            <a:ext cx="5486400" cy="3840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09360" y="4526280"/>
            <a:ext cx="5486400" cy="16916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177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DD"/>
                </a:solidFill>
                <a:latin typeface="Calibri"/>
              </a:rPr>
              <a:t>"Move from traditional project delivery
to structured Product Management —
faster, smarter, with built-in governance."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Product Offices Struggle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577840" cy="2103120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63040"/>
            <a:ext cx="594360" cy="5943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No Structured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92808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Teams start from scratch every time — no standard, no template, no consistency.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577840" cy="2103120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82512" y="1463040"/>
            <a:ext cx="594360" cy="59436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630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Manual &amp; Fragmented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92808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Meeting notes, Excel trackers, Word docs, email chains — knowledge is siloed.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5577840" cy="2103120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" y="3794760"/>
            <a:ext cx="594360" cy="594360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794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673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AI Left on the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24528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The intelligence to draft and analyse exists — but is never harnessed in the charter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66160"/>
            <a:ext cx="5577840" cy="2103120"/>
          </a:xfrm>
          <a:prstGeom prst="round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82512" y="3794760"/>
            <a:ext cx="594360" cy="5943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794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7673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No Oversight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24528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Leadership has zero real-time visibility into what Product Office teams are working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7CFF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Charter 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BDD"/>
                </a:solidFill>
                <a:latin typeface="Calibri"/>
              </a:rPr>
              <a:t>Charter OS is an AI-powered Product Charter platform that guides Product Office teams through every stage of charter development — from team formation to roadmap approval — with Agentic AI doing the heavy lifting and humans approving at each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06040"/>
            <a:ext cx="1508760" cy="14173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7004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D68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375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Structured
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606040"/>
            <a:ext cx="1508760" cy="14173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67004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F7CFF"/>
                </a:solidFill>
                <a:latin typeface="Calibri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3375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Agentic
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606040"/>
            <a:ext cx="1508760" cy="14173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67004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3375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Human in
the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606040"/>
            <a:ext cx="1508760" cy="14173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670048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06CFB"/>
                </a:solidFill>
                <a:latin typeface="Calibri"/>
              </a:rPr>
              <a:t>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3375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TPO Admin
Oversight</a:t>
            </a:r>
          </a:p>
        </p:txBody>
      </p:sp>
      <p:pic>
        <p:nvPicPr>
          <p:cNvPr id="18" name="Picture 17" descr="03_Dashboard Landing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06240"/>
            <a:ext cx="6949440" cy="2423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80960" y="11430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7CFF"/>
                </a:solidFill>
                <a:latin typeface="Calibri"/>
              </a:rPr>
              <a:t>THE 5 CHARTER 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572768"/>
            <a:ext cx="4206240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61848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7CFF"/>
                </a:solidFill>
                <a:latin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737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Team Structure &amp; 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578608"/>
            <a:ext cx="4206240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62432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743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584448"/>
            <a:ext cx="4206240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363016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6CFB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7490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Vision &amp; Strategy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4590288"/>
            <a:ext cx="4206240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463600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D4B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754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Value Realisation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5596128"/>
            <a:ext cx="4206240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564184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D68A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760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Product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D68A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CharterOS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176272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325880"/>
            <a:ext cx="621792" cy="62179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3258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Login &amp;
Start Charter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163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Team logs in with
unique password</a:t>
            </a:r>
          </a:p>
        </p:txBody>
      </p:sp>
      <p:pic>
        <p:nvPicPr>
          <p:cNvPr id="10" name="Picture 9" descr="01_CharterOS Login 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11880"/>
            <a:ext cx="1993392" cy="2514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14600" y="35661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188720"/>
            <a:ext cx="2176272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325880"/>
            <a:ext cx="621792" cy="62179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3258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0574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Build Team
&amp; 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8163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Add members, meetings.
AI generates TOR</a:t>
            </a:r>
          </a:p>
        </p:txBody>
      </p:sp>
      <p:pic>
        <p:nvPicPr>
          <p:cNvPr id="17" name="Picture 16" descr="07_Team Members Popul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3611880"/>
            <a:ext cx="1993392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46320" y="35661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188720"/>
            <a:ext cx="2176272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06440" y="1325880"/>
            <a:ext cx="621792" cy="62179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13258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0574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Problem
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8163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Upload notes &amp; files.
AI synthesises the gap</a:t>
            </a:r>
          </a:p>
        </p:txBody>
      </p:sp>
      <p:pic>
        <p:nvPicPr>
          <p:cNvPr id="24" name="Picture 23" descr="12_Problem Statement_Upload Samples Comple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611880"/>
            <a:ext cx="1993392" cy="2514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78040" y="35661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1188720"/>
            <a:ext cx="2176272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59" y="1325880"/>
            <a:ext cx="621792" cy="62179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9" y="13258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20574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Vision &amp;
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28163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Strategic docs in.
AI crafts the vision</a:t>
            </a:r>
          </a:p>
        </p:txBody>
      </p:sp>
      <p:pic>
        <p:nvPicPr>
          <p:cNvPr id="31" name="Picture 30" descr="16_Vision and Strategy GenAI appro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59" y="3611880"/>
            <a:ext cx="1993392" cy="2514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9759" y="35661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1188720"/>
            <a:ext cx="2176272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69880" y="1325880"/>
            <a:ext cx="621792" cy="62179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13258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0574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Value
Realisation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8163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KPIs + CBA generated
from your data</a:t>
            </a:r>
          </a:p>
        </p:txBody>
      </p:sp>
      <p:pic>
        <p:nvPicPr>
          <p:cNvPr id="38" name="Picture 37" descr="17_Value Realisation Comple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3611880"/>
            <a:ext cx="19933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  <a:latin typeface="Calibri"/>
              </a:rPr>
              <a:t>AI INPUT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Bring Your Own Documents — No Starting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CharterOS accepts documents your team already has. Meeting notes, stakeholder interview transcripts, research findings, strategic briefing papers, Excel business cases — simply upload or paste them in. The AI reads everything and synthesises structured charter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05456"/>
            <a:ext cx="475488" cy="47548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0545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TXT / DOC / 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Meeting notes, interview transcripts, briefing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10128"/>
            <a:ext cx="475488" cy="47548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XLSX /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Business cases, CBA models, benefit estimates, cost sheets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475488" cy="47548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96511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43983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Research reports, strategy papers, board submissions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19472"/>
            <a:ext cx="475488" cy="475488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194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01183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Raw Notes Paste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4865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Unstructured notes typed directly — no formatting needed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24144"/>
            <a:ext cx="475488" cy="47548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7241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0585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Multiple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05332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Upload several documents at once — AI synthesises across all</a:t>
            </a:r>
          </a:p>
        </p:txBody>
      </p:sp>
      <p:pic>
        <p:nvPicPr>
          <p:cNvPr id="26" name="Picture 25" descr="11_Problem Statement_ Uploading of files and Raw Notes P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97280"/>
            <a:ext cx="5120640" cy="3154680"/>
          </a:xfrm>
          <a:prstGeom prst="rect">
            <a:avLst/>
          </a:prstGeom>
        </p:spPr>
      </p:pic>
      <p:pic>
        <p:nvPicPr>
          <p:cNvPr id="27" name="Picture 26" descr="12_Problem Statement_Upload Samples Comple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370832"/>
            <a:ext cx="5120640" cy="2286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02920" y="6400800"/>
            <a:ext cx="6126480" cy="347472"/>
          </a:xfrm>
          <a:prstGeom prst="roundRect">
            <a:avLst/>
          </a:prstGeom>
          <a:solidFill>
            <a:srgbClr val="FF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437376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A623"/>
                </a:solidFill>
                <a:latin typeface="Calibri"/>
              </a:rPr>
              <a:t>💡  No blank slate. No manual writing. Just upload what you have — CharterOS does the synthesis.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7CFF"/>
                </a:solidFill>
                <a:latin typeface="Calibri"/>
              </a:rPr>
              <a:t>STEP 1 — TEAM &amp; 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Team Formation &amp; Terms of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Calibri"/>
              </a:rPr>
              <a:t>Product Office teams register their members and meeting cadence. CharterOS AI then generates a complete, professional Terms of Reference document — covering roles, responsibilities, decision authority, ways of working and escalation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DD"/>
                </a:solidFill>
                <a:latin typeface="Calibri"/>
              </a:rPr>
              <a:t>👥  Add team members with roles and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3580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DD"/>
                </a:solidFill>
                <a:latin typeface="Calibri"/>
              </a:rPr>
              <a:t>📅  Define meeting cadence — standups, reviews,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0273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DD"/>
                </a:solidFill>
                <a:latin typeface="Calibri"/>
              </a:rPr>
              <a:t>🤖  One click — AI generates full TOR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6966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DD"/>
                </a:solidFill>
                <a:latin typeface="Calibri"/>
              </a:rPr>
              <a:t>✅  Team lead reviews and approves — Human in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3659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BBDD"/>
                </a:solidFill>
                <a:latin typeface="Calibri"/>
              </a:rPr>
              <a:t>📊  Progress updates to 100% on approval</a:t>
            </a:r>
          </a:p>
        </p:txBody>
      </p:sp>
      <p:pic>
        <p:nvPicPr>
          <p:cNvPr id="11" name="Picture 10" descr="07_Team Members Popul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577840" cy="2514600"/>
          </a:xfrm>
          <a:prstGeom prst="rect">
            <a:avLst/>
          </a:prstGeom>
        </p:spPr>
      </p:pic>
      <p:pic>
        <p:nvPicPr>
          <p:cNvPr id="12" name="Picture 11" descr="10_TOR AI Generated Document_Part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03320"/>
            <a:ext cx="557784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  <a:latin typeface="Calibri"/>
              </a:rPr>
              <a:t>STEPS 2 &amp; 3 — AI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 &amp; Vision &amp;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62356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🎯 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Upload stakeholder notes, research files, interview transcripts. AI synthesises a structured Problem Statement with User Pain Points and Business Gap — ready to refine and approve.</a:t>
            </a:r>
          </a:p>
        </p:txBody>
      </p:sp>
      <p:pic>
        <p:nvPicPr>
          <p:cNvPr id="8" name="Picture 7" descr="13_Problem Statement Generation Report_part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34640"/>
            <a:ext cx="5532120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9632" y="1143000"/>
            <a:ext cx="562356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298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6CFB"/>
                </a:solidFill>
                <a:latin typeface="Calibri"/>
              </a:rPr>
              <a:t>🔭  VISION &amp;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1907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Upload strategic documents, exec papers, workshop notes. AI crafts a compelling long-term vision with strategic pillars aligned to your product context.</a:t>
            </a:r>
          </a:p>
        </p:txBody>
      </p:sp>
      <p:pic>
        <p:nvPicPr>
          <p:cNvPr id="12" name="Picture 11" descr="16_Vision and Strategy GenAI appr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834640"/>
            <a:ext cx="553212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  <a:latin typeface="Calibri"/>
              </a:rPr>
              <a:t>STEP 4 — VALUE REALISATION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KPIs, CBA &amp; Financial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Calibri"/>
              </a:rPr>
              <a:t>CharterOS transforms raw business cases into structured value evidence. AI recommends SMART KPIs from approved charter content. Teams upload cost and benefit estimates. AI generates a full Cost Benefit Analysis with ROI, payback period and 3-year projections.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78608"/>
            <a:ext cx="384048" cy="38404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AI-Recommended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6265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Drawn from approved Problem Statement and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38728"/>
            <a:ext cx="384048" cy="38404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387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Excel Upload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227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Upload your benefit &amp; cost estimates — auto-matched to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98848"/>
            <a:ext cx="384048" cy="38404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988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Full CBA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828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ROI, payback period, 3-year net 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58968"/>
            <a:ext cx="384048" cy="38404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458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58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Human Approval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430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Team reviews and approves before moving to Roadmap</a:t>
            </a:r>
          </a:p>
        </p:txBody>
      </p:sp>
      <p:pic>
        <p:nvPicPr>
          <p:cNvPr id="22" name="Picture 21" descr="17_Value Realision CBA 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577840" cy="3063240"/>
          </a:xfrm>
          <a:prstGeom prst="rect">
            <a:avLst/>
          </a:prstGeom>
        </p:spPr>
      </p:pic>
      <p:pic>
        <p:nvPicPr>
          <p:cNvPr id="23" name="Picture 22" descr="17_Value Realisation_KPI Metrics_Generated and 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251960"/>
            <a:ext cx="5577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  <a:latin typeface="Calibri"/>
              </a:rPr>
              <a:t>COST BENEFIT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Visual CBA — Investment, Returns &amp; 3-Year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CharterOS generates a complete, visual Cost Benefit Analysis from your uploaded Excel data. The CBA View shows financial metrics, interactive charts and a 3-year net position — all in one place, ready for steering committee presentations.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41448"/>
            <a:ext cx="347472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414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048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SGD Summary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70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Total investment, annual benefit, payback period and 3-year ROI at a glance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91840"/>
            <a:ext cx="347472" cy="34747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5526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Cost vs Benefit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621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Bar chart comparing one-off costs, Year 1 total cost, annual benefit and net positions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42232"/>
            <a:ext cx="347472" cy="34747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42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10565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Benefit by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4714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Donut chart breaking down benefit contribution per KPI — shows which KPIs drive the most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92624"/>
            <a:ext cx="347472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92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95604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Cumulative Net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321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Year 0 to Year 3 waterfall chart showing the investment-to-return journey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843016"/>
            <a:ext cx="347472" cy="34747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8430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8064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Download Full CBA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6172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Export the complete CBA as an Excel file for finance team submission</a:t>
            </a:r>
          </a:p>
        </p:txBody>
      </p:sp>
      <p:pic>
        <p:nvPicPr>
          <p:cNvPr id="26" name="Picture 25" descr="17_Value Realision CBA 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0"/>
            <a:ext cx="53492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D68A"/>
                </a:solidFill>
                <a:latin typeface="Calibri"/>
              </a:rPr>
              <a:t>GOVERNANCE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Human in the Loop — Approval at Every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Calibri"/>
              </a:rPr>
              <a:t>CharterOS enforces a structured governance model. AI generates — humans decide. No section can be marked complete without explicit team approval. This ensures accountability, quality assurance, and organisational sign-off at every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41448"/>
            <a:ext cx="347472" cy="34747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414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048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Team &amp; 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706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TOR reviewed and approved by Product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459736"/>
            <a:ext cx="1920240" cy="50292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5973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→ Team &amp; TOR =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10128"/>
            <a:ext cx="347472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10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2735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393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AI draft reviewed, refined and approved by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328416"/>
            <a:ext cx="1920240" cy="5029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32841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→ Problem =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78807"/>
            <a:ext cx="347472" cy="34747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788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142231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Vision &amp;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50799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Vision document reviewed and approved by team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197095"/>
            <a:ext cx="1920240" cy="502920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19709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→ Vision = 100%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47488"/>
            <a:ext cx="347472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474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0109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Value Realisation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37667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KPIs and CBA approved — financial case signed 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5065775"/>
            <a:ext cx="1920240" cy="5029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506577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→ Value = 100%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916168"/>
            <a:ext cx="347472" cy="34747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9161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8795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Product 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62453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Two-stage: Phases &amp; Tasks approved, then Gantt Timeline approved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5934455"/>
            <a:ext cx="1920240" cy="502920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593445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→ Roadmap = 100%</a:t>
            </a:r>
          </a:p>
        </p:txBody>
      </p:sp>
      <p:pic>
        <p:nvPicPr>
          <p:cNvPr id="36" name="Picture 35" descr="10_TOR AI Generated Approve TOR_Part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097280"/>
            <a:ext cx="4937760" cy="2514600"/>
          </a:xfrm>
          <a:prstGeom prst="rect">
            <a:avLst/>
          </a:prstGeom>
        </p:spPr>
      </p:pic>
      <p:pic>
        <p:nvPicPr>
          <p:cNvPr id="37" name="Picture 36" descr="13_Problem Statement 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749039"/>
            <a:ext cx="4937760" cy="256032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02920" y="6446520"/>
            <a:ext cx="6172200" cy="3200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48309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D68A"/>
                </a:solidFill>
                <a:latin typeface="Calibri"/>
              </a:rPr>
              <a:t>🔒  Every approval is timestamped in the Activity Log — full audit trail for compliance and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D68A"/>
                </a:solidFill>
                <a:latin typeface="Calibri"/>
              </a:rPr>
              <a:t>STEP 5 — 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Phased Execution Plan &amp; Gantt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Upload epics, sprint plans or backlog items. AI structures a phased product roadmap visualised as a Gantt chart. Two-stage approval: Phases &amp; Tasks first, then Timeline — reinforcing governance and Human in the Loop discipline.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60320"/>
            <a:ext cx="475488" cy="47548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Upload Epics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Backlog, sprint plans, strategic initiatives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47872"/>
            <a:ext cx="475488" cy="47548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295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AI Structures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136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Tasks, durations, milestones auto-generated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35424"/>
            <a:ext cx="475488" cy="47548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53542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171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Approve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0118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Review phases and tasks — Human gate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22976"/>
            <a:ext cx="475488" cy="475488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52297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046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Approve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8873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Review Gantt — Human gate 2 — 100% complete</a:t>
            </a:r>
          </a:p>
        </p:txBody>
      </p:sp>
      <p:pic>
        <p:nvPicPr>
          <p:cNvPr id="22" name="Picture 21" descr="18_Product Roadmap_AutoGenerated Product Roadmap 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577840" cy="2788920"/>
          </a:xfrm>
          <a:prstGeom prst="rect">
            <a:avLst/>
          </a:prstGeom>
        </p:spPr>
      </p:pic>
      <p:pic>
        <p:nvPicPr>
          <p:cNvPr id="23" name="Picture 22" descr="18_Product Roadmap_Gantt View Appr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977639"/>
            <a:ext cx="557784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06CFB"/>
                </a:solidFill>
                <a:latin typeface="Calibri"/>
              </a:rPr>
              <a:t>TPO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Real-Time Oversight Across All Departments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Calibri"/>
              </a:rPr>
              <a:t>TPO Administrators get a live dashboard showing charter progress across all Product Office teams and departments — with drill-down to individual charter detail and read-only access to any team's charter at any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47472" cy="34747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43230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4 Departments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797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Monitor Digital Services, Estate Management, Citizen Experience, Building Infra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19272"/>
            <a:ext cx="347472" cy="34747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28269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5 Charters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301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Track multiple charters per department — Estate Management runs 2 simultaneously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9664"/>
            <a:ext cx="347472" cy="34747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13308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Section-by-section completion % — Team &amp; TOR, Problem, Vision, Value, Roadmap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20056"/>
            <a:ext cx="347472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98348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Drill-Down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3309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Click any department tile to see individual charter breakdown and open charter read-only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70448"/>
            <a:ext cx="347472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8338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Auto-Refresh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61813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Dashboard refreshes every 60 seconds — always current, no manual updates needed</a:t>
            </a:r>
          </a:p>
        </p:txBody>
      </p:sp>
      <p:pic>
        <p:nvPicPr>
          <p:cNvPr id="21" name="Picture 20" descr="14_CharterOSAdmin_Track 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577840" cy="2880360"/>
          </a:xfrm>
          <a:prstGeom prst="rect">
            <a:avLst/>
          </a:prstGeom>
        </p:spPr>
      </p:pic>
      <p:pic>
        <p:nvPicPr>
          <p:cNvPr id="22" name="Picture 21" descr="15_CharterOSAdmin track progress 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069080"/>
            <a:ext cx="55778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7CFF"/>
                </a:solidFill>
                <a:latin typeface="Calibri"/>
              </a:rPr>
              <a:t>OUTPUT &amp;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From Charter to Deliverable in One Click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577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417320"/>
            <a:ext cx="658368" cy="65836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3898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Export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847088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Full Product Charter document — team structure, TOR, problem statement, vision, KPIs, CBA, roadmap with Gantt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577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417320"/>
            <a:ext cx="658368" cy="658368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173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3898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Generate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1847088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Auto-generated 10-slide management presentation deck — ready for stakeholder briefings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66160"/>
            <a:ext cx="5577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3794760"/>
            <a:ext cx="658368" cy="65836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7947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7673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Copy / 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224528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Export charter content as clean HTML or copy to clipboard for any document 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577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36792" y="3794760"/>
            <a:ext cx="658368" cy="65836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7947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7673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Backup &amp; Restore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4224528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Export JSON backup of full charter state — restore anytime, share across environments</a:t>
            </a:r>
          </a:p>
        </p:txBody>
      </p:sp>
      <p:pic>
        <p:nvPicPr>
          <p:cNvPr id="25" name="Picture 24" descr="19_Finalise and Export Ch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760720"/>
            <a:ext cx="5120640" cy="960120"/>
          </a:xfrm>
          <a:prstGeom prst="rect">
            <a:avLst/>
          </a:prstGeom>
        </p:spPr>
      </p:pic>
      <p:pic>
        <p:nvPicPr>
          <p:cNvPr id="26" name="Picture 25" descr="19_Product Charter_Slides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760720"/>
            <a:ext cx="539496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Agentic AI with Human in the Loop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Calibri"/>
              </a:rPr>
              <a:t>CharterOS is built on a principled governance model: AI does the synthesis and drafting, humans retain decision authority at every gate. This is not automation replacing judgment — it is AI amplifying capability while preserving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1719072" cy="2880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621792" cy="62179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718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Raw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290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Notes, files,
research,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32461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7712" y="2103120"/>
            <a:ext cx="1719072" cy="2880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6352" y="2240280"/>
            <a:ext cx="621792" cy="62179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22402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29718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Agentic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34290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Synthesise, draft,
structure, 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3" y="32461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9664" y="2103120"/>
            <a:ext cx="1719072" cy="2880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18304" y="2240280"/>
            <a:ext cx="621792" cy="62179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22402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5384" y="29718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5384" y="34290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Team reviews
and refines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8736" y="32461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71616" y="2103120"/>
            <a:ext cx="1719072" cy="2880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20256" y="2240280"/>
            <a:ext cx="621792" cy="62179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6" y="22402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7336" y="29718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Human Approval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7336" y="34290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Explicit sign-off
at every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2461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2103120"/>
            <a:ext cx="1719072" cy="2880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22208" y="2240280"/>
            <a:ext cx="621792" cy="62179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22402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29718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34290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TPO sees live
completion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24612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F7CFF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2103120"/>
            <a:ext cx="1719072" cy="2880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24160" y="2240280"/>
            <a:ext cx="621792" cy="62179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224028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2971800"/>
            <a:ext cx="1627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34290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Publish charter
as deliverable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66360"/>
            <a:ext cx="11155680" cy="141732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25780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🔒  Why This Matters for Product Management Transformation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692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Traditional waterfall delivery has no formal product charter discipline. CharterOS gives Product Offices the operating model to shift towards structured product delivery — with AI removing the effort barrier and governance ensuring the rigour. Every charter section requires explicit human approval before the team progresses. This is not a shortcut — it is a capability accelerator.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D68A"/>
                </a:solidFill>
                <a:latin typeface="Calibri"/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CharterOS Delivers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749039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353312"/>
            <a:ext cx="502920" cy="50292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71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For Product Office 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292608" cy="29260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2996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80%+ reduction in charter drafting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54680"/>
            <a:ext cx="292608" cy="29260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1546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8152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Consistent, structured output every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06240"/>
            <a:ext cx="292608" cy="29260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206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133087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AI handles synthesis — humans focus on strategy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57800"/>
            <a:ext cx="292608" cy="29260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257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1846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Built-in approval workflow ensures governance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188720"/>
            <a:ext cx="3749039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62272" y="1353312"/>
            <a:ext cx="502920" cy="502920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371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For TPO Administrators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8848" y="2103120"/>
            <a:ext cx="292608" cy="292608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1031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202996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Real-time visibility across all departments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3154680"/>
            <a:ext cx="292608" cy="292608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1546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308152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No more chasing teams for status updates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98848" y="4206240"/>
            <a:ext cx="292608" cy="292608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4206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4133087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Department-level and charter-level drill-down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98848" y="5257800"/>
            <a:ext cx="292608" cy="292608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5257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51846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Read-only charter access from admin portal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188720"/>
            <a:ext cx="3749039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94192" y="1353312"/>
            <a:ext cx="502920" cy="502920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1371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For the Organisation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30768" y="2103120"/>
            <a:ext cx="292608" cy="29260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21031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202996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Accelerates transition to Product Management delivery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30768" y="3154680"/>
            <a:ext cx="292608" cy="29260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31546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51392" y="308152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Builds institutional knowledge in structured charters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30768" y="4206240"/>
            <a:ext cx="292608" cy="29260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8" y="4206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1392" y="4133087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Positions Singapore public agencies as product-led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30768" y="5257800"/>
            <a:ext cx="292608" cy="29260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0768" y="5257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51392" y="518464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Replicable across any Product Office context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Roadmap for CharterOS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44752"/>
            <a:ext cx="347472" cy="34747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10512"/>
            <a:ext cx="731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7CFF"/>
                </a:solidFill>
                <a:latin typeface="Calibri"/>
              </a:rPr>
              <a:t>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Pilot with 5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09928"/>
            <a:ext cx="9418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Run CharterOS prototype with 5 Product Office teams across 4 departments. Capture feedback and measure charter completion time vs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42032"/>
            <a:ext cx="347472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07792"/>
            <a:ext cx="731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505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3957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Refine Value Realisation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07208"/>
            <a:ext cx="9418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Complete the Value Realisation and CBA module — improve benefit matching, add milestone-based projections, enhance financial modelling.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39312"/>
            <a:ext cx="347472" cy="34747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05072"/>
            <a:ext cx="731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478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6CFB"/>
                </a:solidFill>
                <a:latin typeface="Calibri"/>
              </a:rPr>
              <a:t>Q4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93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Enhance Final Charter Doc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04488"/>
            <a:ext cx="9418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Improve the PDF and PPTX export quality. Add charter version control, comment and annotation capability.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36592"/>
            <a:ext cx="347472" cy="34747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02351"/>
            <a:ext cx="731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4515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D68A"/>
                </a:solidFill>
                <a:latin typeface="Calibri"/>
              </a:rPr>
              <a:t>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5902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Scale to All Departments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001768"/>
            <a:ext cx="9418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Onboard remaining Product Office teams. Establish CharterOS as the standard tool for all new product initiatives.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833872"/>
            <a:ext cx="347472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4243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Calibri"/>
              </a:rPr>
              <a:t>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6875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Enterprise &amp; Client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6099048"/>
            <a:ext cx="9418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DD"/>
                </a:solidFill>
                <a:latin typeface="Calibri"/>
              </a:rPr>
              <a:t>Package CharterOS as an organisational capability offering for public sector clients moving to Product Management delivery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310128"/>
            <a:ext cx="12188952" cy="3547872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68696" y="594360"/>
            <a:ext cx="1051560" cy="105156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68696" y="594360"/>
            <a:ext cx="1051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10512"/>
            <a:ext cx="57881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Charter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87168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PRODUCT CHARTER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456432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BBDD"/>
                </a:solidFill>
                <a:latin typeface="Calibri"/>
              </a:rPr>
              <a:t>"From raw ideas to approved charters — powered by Agentic AI,
guided by human judgment, built for Product Management excellence."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492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F7C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7"/>
                </a:solidFill>
                <a:latin typeface="Calibri"/>
              </a:rPr>
              <a:t>Confidential — Internal Use Only  ·  June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7CFF"/>
                </a:solidFill>
                <a:latin typeface="Calibri"/>
              </a:rPr>
              <a:t>AGENTIC 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Each Capability Does &amp; 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749039" cy="23774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749039" cy="54864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307592"/>
            <a:ext cx="530352" cy="53035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0759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0759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Goal-Directed 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4767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DD"/>
                </a:solidFill>
                <a:latin typeface="Calibri"/>
              </a:rPr>
              <a:t>Each agent has a specific structured output target — not just a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496312"/>
            <a:ext cx="3429000" cy="27432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87752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D68A"/>
                </a:solidFill>
                <a:latin typeface="Calibri"/>
              </a:rPr>
              <a:t>Every section produces a guaranteed complete deliverable. Teams get consulting-grade documents — not vague AI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143000"/>
            <a:ext cx="3749039" cy="23774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143000"/>
            <a:ext cx="3749039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3984" y="1307592"/>
            <a:ext cx="530352" cy="53035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30759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130759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Context Carry-Forward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194767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DD"/>
                </a:solidFill>
                <a:latin typeface="Calibri"/>
              </a:rPr>
              <a:t>Each agent reads approved outputs of prior agents before generating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3984" y="2496312"/>
            <a:ext cx="3429000" cy="27432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4" y="2587752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D68A"/>
                </a:solidFill>
                <a:latin typeface="Calibri"/>
              </a:rPr>
              <a:t>KPIs are traceable to Vision. Vision is grounded in the Problem. The charter tells one coherent story — not 5 disconnected sections.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4" y="1143000"/>
            <a:ext cx="3749039" cy="23774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4" y="1143000"/>
            <a:ext cx="3749039" cy="54864"/>
          </a:xfrm>
          <a:prstGeom prst="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57616" y="1307592"/>
            <a:ext cx="530352" cy="53035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130759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130759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Multi-Source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194767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DD"/>
                </a:solidFill>
                <a:latin typeface="Calibri"/>
              </a:rPr>
              <a:t>A single agent reads across multiple uploaded files simultaneously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57616" y="2496312"/>
            <a:ext cx="3429000" cy="27432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2587752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D68A"/>
                </a:solidFill>
                <a:latin typeface="Calibri"/>
              </a:rPr>
              <a:t>Teams no longer spend weeks synthesising discovery notes. Upload everything — AI extracts the signal across all sources at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749039"/>
            <a:ext cx="3749039" cy="23774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749039"/>
            <a:ext cx="3749039" cy="54864"/>
          </a:xfrm>
          <a:prstGeom prst="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0352" y="3913631"/>
            <a:ext cx="530352" cy="53035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913631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913631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Autonomous Structuring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55371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DD"/>
                </a:solidFill>
                <a:latin typeface="Calibri"/>
              </a:rPr>
              <a:t>Agent decides phases, task sequencing and durations — not the user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5102352"/>
            <a:ext cx="3429000" cy="27432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193792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D68A"/>
                </a:solidFill>
                <a:latin typeface="Calibri"/>
              </a:rPr>
              <a:t>The Roadmap Agent makes judgment calls a junior PM would spend days on. Teams get a structured phased plan in seconds.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79392" y="3749039"/>
            <a:ext cx="3749039" cy="23774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9392" y="3749039"/>
            <a:ext cx="3749039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43984" y="3913631"/>
            <a:ext cx="530352" cy="5303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43984" y="3913631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3913631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Output Parsing &amp; Tool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3984" y="455371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DD"/>
                </a:solidFill>
                <a:latin typeface="Calibri"/>
              </a:rPr>
              <a:t>CBA Agent parses its own output to power live charts and Excel exports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43984" y="5102352"/>
            <a:ext cx="3429000" cy="27432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43984" y="5193792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D68A"/>
                </a:solidFill>
                <a:latin typeface="Calibri"/>
              </a:rPr>
              <a:t>The AI does not just write — it produces machine-readable data that feeds visual dashboards. Charts are generated automatically.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93024" y="3749039"/>
            <a:ext cx="3749039" cy="23774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93024" y="3749039"/>
            <a:ext cx="3749039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57616" y="3913631"/>
            <a:ext cx="530352" cy="530352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3913631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5984" y="3913631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Human-Gated Orchestration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7616" y="4553712"/>
            <a:ext cx="3456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DD"/>
                </a:solidFill>
                <a:latin typeface="Calibri"/>
              </a:rPr>
              <a:t>No agent proceeds without explicit human approval of the prior section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57616" y="5102352"/>
            <a:ext cx="3429000" cy="27432"/>
          </a:xfrm>
          <a:prstGeom prst="rect">
            <a:avLst/>
          </a:prstGeom>
          <a:solidFill>
            <a:srgbClr val="2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6" y="5193792"/>
            <a:ext cx="3456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D68A"/>
                </a:solidFill>
                <a:latin typeface="Calibri"/>
              </a:rPr>
              <a:t>Bounded autonomy. AI acts within each section; humans control every gate. This is what makes Agentic AI safe to deploy in organisations.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6446520"/>
            <a:ext cx="11457432" cy="320040"/>
          </a:xfrm>
          <a:prstGeom prst="roundRect">
            <a:avLst/>
          </a:prstGeom>
          <a:solidFill>
            <a:srgbClr val="1A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A623"/>
                </a:solidFill>
                <a:latin typeface="Calibri"/>
              </a:rPr>
              <a:t>"CharterOS is not a chatbot with a nice UI. It is a chain of goal-directed agents — each producing a structured deliverable, each building on what came before."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7CFF"/>
                </a:solidFill>
                <a:latin typeface="Calibri"/>
              </a:rP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6 CharterOS Agents — Sequential &amp; Context-Aware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44168"/>
            <a:ext cx="475488" cy="47548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44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893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TOR Drafter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" y="1691640"/>
            <a:ext cx="1325880" cy="25603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Autonomous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2161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F7CFF"/>
                </a:solidFill>
                <a:latin typeface="Calibri"/>
              </a:rPr>
              <a:t>⬇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97864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 members + meeting cadence + product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550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D68A"/>
                </a:solidFill>
                <a:latin typeface="Calibri"/>
              </a:rPr>
              <a:t>⬆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636776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5-section governance document: Mandate, Roles, Ways of Working, Decision Authority, Escalation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066543"/>
            <a:ext cx="70408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892807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7CFF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286000"/>
            <a:ext cx="475488" cy="47548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2860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22311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Problem Analyst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2633472"/>
            <a:ext cx="1325880" cy="25603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63347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Multi-Source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15798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  <a:latin typeface="Calibri"/>
              </a:rPr>
              <a:t>⬇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139696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Raw notes + uploaded files (TXT/DOCX/XLSX/PDF) + product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5968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D68A"/>
                </a:solidFill>
                <a:latin typeface="Calibri"/>
              </a:rPr>
              <a:t>⬆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2578608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5-section problem statement: Executive Summary, Pain Points, Business Gap, Inaction, Assumptions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008376"/>
            <a:ext cx="70408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" y="283464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227832"/>
            <a:ext cx="475488" cy="475488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3172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Vision Strategist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" y="3575304"/>
            <a:ext cx="1325880" cy="25603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357530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Context-Aware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09981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06CFB"/>
                </a:solidFill>
                <a:latin typeface="Calibri"/>
              </a:rPr>
              <a:t>⬇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081528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Approved Problem Statement + strategic notes + uploaded 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5387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D68A"/>
                </a:solidFill>
                <a:latin typeface="Calibri"/>
              </a:rPr>
              <a:t>⬆ 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3520440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Vision Statement, Mission, 5-7 Strategic Pillars, Differentiation, Success in 3 Years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950208"/>
            <a:ext cx="70408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77647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6CFB"/>
                </a:solidFill>
                <a:latin typeface="Calibri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169663"/>
            <a:ext cx="475488" cy="47548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16966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" y="41148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KPI Recommender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9264" y="4517136"/>
            <a:ext cx="1325880" cy="25603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451713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Context-Aware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40416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D4BF"/>
                </a:solidFill>
                <a:latin typeface="Calibri"/>
              </a:rPr>
              <a:t>⬇ 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4023359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Approved Problem + Vision + milestones + benefit/cost files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4805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D68A"/>
                </a:solidFill>
                <a:latin typeface="Calibri"/>
              </a:rPr>
              <a:t>⬆ 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446227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JSON: 6-8 SMART KPIs with target, timeframe, owner, category, rationale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4892040"/>
            <a:ext cx="70408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471830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Calibri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5111496"/>
            <a:ext cx="475488" cy="475488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11149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" y="50566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CBA Analyst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" y="5458968"/>
            <a:ext cx="1325880" cy="25603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" y="545896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Tool-Using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4983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D68A"/>
                </a:solidFill>
                <a:latin typeface="Calibri"/>
              </a:rPr>
              <a:t>⬇ 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4760" y="496519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Approved KPIs + benefit values + cost estimates + uploaded Excel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54223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D68A"/>
                </a:solidFill>
                <a:latin typeface="Calibri"/>
              </a:rPr>
              <a:t>⬆ OUT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60" y="5404104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Financial narrative + parsed SGD figures → powers 3 live CBA charts + full Excel export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5833872"/>
            <a:ext cx="70408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566013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D68A"/>
                </a:solidFill>
                <a:latin typeface="Calibri"/>
              </a:rPr>
              <a:t>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760" y="6053328"/>
            <a:ext cx="475488" cy="475488"/>
          </a:xfrm>
          <a:prstGeom prst="round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0533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" y="59984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Roadmap Architect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9264" y="6400800"/>
            <a:ext cx="1325880" cy="25603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" y="640080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Autonomous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6120" y="59253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5C5C"/>
                </a:solidFill>
                <a:latin typeface="Calibri"/>
              </a:rPr>
              <a:t>⬇ 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4760" y="5907024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Product context + epics/features text + duration + team size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6120" y="63642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D68A"/>
                </a:solidFill>
                <a:latin typeface="Calibri"/>
              </a:rPr>
              <a:t>⬆ OUT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6345936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JSON phases with tasks + Gantt data → powers Phases &amp; Tasks view and custom Gantt chart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2440" y="11704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F7CFF"/>
                </a:solidFill>
                <a:latin typeface="Calibri"/>
              </a:rPr>
              <a:t>CONTEXT CHAIN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92440" y="1508760"/>
            <a:ext cx="3749039" cy="530352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2440" y="150876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7CFF"/>
                </a:solidFill>
                <a:latin typeface="Calibri"/>
              </a:rPr>
              <a:t>Agent 1: 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0" y="205740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92440" y="2212848"/>
            <a:ext cx="3749039" cy="530352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92440" y="2212848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Agent 2: Problem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276148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92440" y="2916936"/>
            <a:ext cx="3749039" cy="530352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2916936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6CFB"/>
                </a:solidFill>
                <a:latin typeface="Calibri"/>
              </a:rPr>
              <a:t>Agent 3: Vision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2440" y="346557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92440" y="3621024"/>
            <a:ext cx="3749039" cy="530352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2440" y="3621024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  <a:latin typeface="Calibri"/>
              </a:rPr>
              <a:t>Agent 4: KPIs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92440" y="4169663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92440" y="4325112"/>
            <a:ext cx="3749039" cy="530352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2440" y="4325112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D68A"/>
                </a:solidFill>
                <a:latin typeface="Calibri"/>
              </a:rPr>
              <a:t>Agent 5: CBA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92440" y="487375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92440" y="5029200"/>
            <a:ext cx="3749039" cy="530352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92440" y="502920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5C5C"/>
                </a:solidFill>
                <a:latin typeface="Calibri"/>
              </a:rPr>
              <a:t>Agent 6: Roadmap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2440" y="557784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92440" y="5733288"/>
            <a:ext cx="3749039" cy="53035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92440" y="5733288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 Complete Charter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7C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438912" cy="43891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216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Why Product Offices struggle without a structured charter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34440"/>
            <a:ext cx="438912" cy="43891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234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3136" y="1216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is Charter 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563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Platform overview, 5 components, and how it fits your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77440"/>
            <a:ext cx="438912" cy="43891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359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Bring Your Own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706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How teams feed their existing work into the AI input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377440"/>
            <a:ext cx="438912" cy="43891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377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359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How It Works —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2706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Step-by-step walkthrough from login to completed charter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520440"/>
            <a:ext cx="438912" cy="43891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520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502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Human in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849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The governance model — approval gates at every section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520440"/>
            <a:ext cx="438912" cy="43891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3520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3502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Visual CBA &amp;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849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KPIs, cost benefit analysis, charts and financial justification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663440"/>
            <a:ext cx="438912" cy="43891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663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645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TPO Admin Portal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992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Real-time oversight — department tiles, drill-down, read-only 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4663440"/>
            <a:ext cx="438912" cy="438912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4663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4645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Export &amp;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3136" y="4992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PDF charter, management slides, backup and HTML export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806440"/>
            <a:ext cx="438912" cy="438912"/>
          </a:xfrm>
          <a:prstGeom prst="roundRect">
            <a:avLst/>
          </a:prstGeom>
          <a:solidFill>
            <a:srgbClr val="B06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806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788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Agentic AI Capabilities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6135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The 6 AI capabilities and the benefits each one delivers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5806440"/>
            <a:ext cx="438912" cy="43891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5806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3136" y="5788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6 CharterOS Agents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6135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Sequential agent architecture and context chain breakdown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6949440"/>
            <a:ext cx="438912" cy="438912"/>
          </a:xfrm>
          <a:prstGeom prst="roundRect">
            <a:avLst/>
          </a:prstGeom>
          <a:solidFill>
            <a:srgbClr val="1F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949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6931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Benefits Summary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7278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What CharterOS delivers for teams, TPO admins and the organisation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6949440"/>
            <a:ext cx="438912" cy="43891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6949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3136" y="6931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3136" y="727862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Pilot plan, roadmap and path to organisational capability offering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